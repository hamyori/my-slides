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Sin Polimorfismo (if/else por tipo)</c:v>
                </c:pt>
              </c:strCache>
            </c:strRef>
          </c:tx>
          <c:spPr>
            <a:solidFill>
              <a:srgbClr val="B8292F"/>
            </a:solidFill>
          </c:spPr>
          <c:cat>
            <c:strRef>
              <c:f>Sheet1!$A$2:$A$4</c:f>
              <c:strCache>
                <c:ptCount val="3"/>
                <c:pt idx="0">
                  <c:v>2 Especies</c:v>
                </c:pt>
                <c:pt idx="1">
                  <c:v>4 Especies</c:v>
                </c:pt>
                <c:pt idx="2">
                  <c:v>8 Especies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Polimorfismo (bucle Animal*)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Sheet1!$A$2:$A$4</c:f>
              <c:strCache>
                <c:ptCount val="3"/>
                <c:pt idx="0">
                  <c:v>2 Especies</c:v>
                </c:pt>
                <c:pt idx="1">
                  <c:v>4 Especies</c:v>
                </c:pt>
                <c:pt idx="2">
                  <c:v>8 Especies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rlito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Carlit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1097280" cy="109728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5156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93C5FD"/>
                </a:solidFill>
                <a:latin typeface="Carlito"/>
              </a:rPr>
              <a:t>UNIVERSIDAD MARIANO GÁLVEZ · CURSO DE ALGORITMOS</a:t>
            </a:r>
          </a:p>
          <a:p>
            <a:pPr>
              <a:spcAft>
                <a:spcPts val="1400"/>
              </a:spcAft>
            </a:pPr>
            <a:r>
              <a:rPr sz="3800" b="1">
                <a:solidFill>
                  <a:srgbClr val="F8FAFC"/>
                </a:solidFill>
                <a:latin typeface="Carlito"/>
              </a:rPr>
              <a:t>Herencia, Sobrescritura y Polimorfismo en C++</a:t>
            </a:r>
          </a:p>
          <a:p>
            <a:r>
              <a:rPr sz="2000">
                <a:solidFill>
                  <a:srgbClr val="CBD5E1"/>
                </a:solidFill>
                <a:latin typeface="Carlito"/>
              </a:rPr>
              <a:t>Reutilización jerárquica, métodos virtuales y despacho dinámico en POO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Carlito"/>
              </a:rPr>
              <a:t>Grupo 5 (4 Integrantes) · Semanas 16 y 17  |  Diapositiva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292F"/>
                </a:solidFill>
                <a:latin typeface="Carlito"/>
              </a:rPr>
              <a:t>PARTE 1 · INTEGRANTE 1 · HERENCIA EN C++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Carlito"/>
              </a:rPr>
              <a:t>La Herencia Modela Relaciones «Es-Un»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B8292F"/>
                </a:solidFill>
                <a:latin typeface="Carlito"/>
              </a:rPr>
              <a:t>Jerarquía Base → Derivadas en C++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Concepto de herencia: </a:t>
            </a:r>
            <a:r>
              <a:rPr sz="1550">
                <a:solidFill>
                  <a:srgbClr val="475569"/>
                </a:solidFill>
                <a:latin typeface="Carlito"/>
              </a:rPr>
              <a:t>Una subclase adquiere atributos y métodos de una superclase.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Clase Base (Animal): </a:t>
            </a:r>
            <a:r>
              <a:rPr sz="1550">
                <a:solidFill>
                  <a:srgbClr val="475569"/>
                </a:solidFill>
                <a:latin typeface="Carlito"/>
              </a:rPr>
              <a:t>Centraliza estado común (nombre, edad) con acceso protected.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Clase Derivada (Perro, Gato): </a:t>
            </a:r>
            <a:r>
              <a:rPr sz="1550">
                <a:solidFill>
                  <a:srgbClr val="475569"/>
                </a:solidFill>
                <a:latin typeface="Carlito"/>
              </a:rPr>
              <a:t>Usa ': public Animal', llama al constructor base y añade rasgos.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Ventaja arquitectónica: </a:t>
            </a:r>
            <a:r>
              <a:rPr sz="1550">
                <a:solidFill>
                  <a:srgbClr val="475569"/>
                </a:solidFill>
                <a:latin typeface="Carlito"/>
              </a:rPr>
              <a:t>Evita duplicar código y escala nuevas especies limpiamente.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Fuente: Microsoft Learn C++  |  Diapositiva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292F"/>
                </a:solidFill>
                <a:latin typeface="Carlito"/>
              </a:rPr>
              <a:t>PARTE 2 · INTEGRANTE 2 · POLIMORFISMO Y ENLACE DINÁMICO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Los Métodos Virtuales Habilitan el Polimorfismo en Ejecución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6908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231136"/>
            <a:ext cx="2852928" cy="3630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B8292F"/>
                </a:solidFill>
                <a:latin typeface="Carlito"/>
              </a:rPr>
              <a:t>1. Polimorfismo</a:t>
            </a:r>
          </a:p>
          <a:p>
            <a:pPr algn="l" marL="219456" indent="-219456">
              <a:spcAft>
                <a:spcPts val="800"/>
              </a:spcAft>
              <a:buFont typeface="Carlito"/>
              <a:buChar char="•"/>
            </a:pPr>
            <a:r>
              <a:rPr sz="1700" b="1">
                <a:solidFill>
                  <a:srgbClr val="0F172A"/>
                </a:solidFill>
                <a:latin typeface="Carlito"/>
              </a:rPr>
              <a:t>Interfaz única: </a:t>
            </a:r>
            <a:r>
              <a:rPr sz="1500">
                <a:solidFill>
                  <a:srgbClr val="475569"/>
                </a:solidFill>
                <a:latin typeface="Carlito"/>
              </a:rPr>
              <a:t>Animal* apunta a objetos Perro, Gato o Vaca.</a:t>
            </a:r>
          </a:p>
          <a:p>
            <a:pPr algn="l" marL="219456" indent="-219456">
              <a:spcAft>
                <a:spcPts val="800"/>
              </a:spcAft>
              <a:buFont typeface="Carlito"/>
              <a:buChar char="•"/>
            </a:pPr>
            <a:r>
              <a:rPr sz="1700" b="1">
                <a:solidFill>
                  <a:srgbClr val="0F172A"/>
                </a:solidFill>
                <a:latin typeface="Carlito"/>
              </a:rPr>
              <a:t>Múltiples formas: </a:t>
            </a:r>
            <a:r>
              <a:rPr sz="1500">
                <a:solidFill>
                  <a:srgbClr val="475569"/>
                </a:solidFill>
                <a:latin typeface="Carlito"/>
              </a:rPr>
              <a:t>hacerSonido() responde distinto según la especie.</a:t>
            </a:r>
          </a:p>
          <a:p>
            <a:pPr algn="l" marL="219456" indent="-219456">
              <a:spcAft>
                <a:spcPts val="800"/>
              </a:spcAft>
              <a:buFont typeface="Carlito"/>
              <a:buChar char="•"/>
            </a:pPr>
            <a:r>
              <a:rPr sz="1700" b="1">
                <a:solidFill>
                  <a:srgbClr val="0F172A"/>
                </a:solidFill>
                <a:latin typeface="Carlito"/>
              </a:rPr>
              <a:t>Desacoplamiento: </a:t>
            </a:r>
            <a:r>
              <a:rPr sz="1500">
                <a:solidFill>
                  <a:srgbClr val="475569"/>
                </a:solidFill>
                <a:latin typeface="Carlito"/>
              </a:rPr>
              <a:t>Opera sobre Animal&amp; sin conocer cada subclase.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06908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2231136"/>
            <a:ext cx="2852928" cy="3630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B8292F"/>
                </a:solidFill>
                <a:latin typeface="Carlito"/>
              </a:rPr>
              <a:t>2. Método virtual</a:t>
            </a:r>
          </a:p>
          <a:p>
            <a:pPr algn="l" marL="219456" indent="-219456">
              <a:spcAft>
                <a:spcPts val="800"/>
              </a:spcAft>
              <a:buFont typeface="Carlito"/>
              <a:buChar char="•"/>
            </a:pPr>
            <a:r>
              <a:rPr sz="1700" b="1">
                <a:solidFill>
                  <a:srgbClr val="0F172A"/>
                </a:solidFill>
                <a:latin typeface="Carlito"/>
              </a:rPr>
              <a:t>Enlace dinámico: </a:t>
            </a:r>
            <a:r>
              <a:rPr sz="1500">
                <a:solidFill>
                  <a:srgbClr val="475569"/>
                </a:solidFill>
                <a:latin typeface="Carlito"/>
              </a:rPr>
              <a:t>Resuelve la llamada en tiempo de ejecución.</a:t>
            </a:r>
          </a:p>
          <a:p>
            <a:pPr algn="l" marL="219456" indent="-219456">
              <a:spcAft>
                <a:spcPts val="800"/>
              </a:spcAft>
              <a:buFont typeface="Carlito"/>
              <a:buChar char="•"/>
            </a:pPr>
            <a:r>
              <a:rPr sz="1700" b="1">
                <a:solidFill>
                  <a:srgbClr val="0F172A"/>
                </a:solidFill>
                <a:latin typeface="Carlito"/>
              </a:rPr>
              <a:t>Tabla vtable: </a:t>
            </a:r>
            <a:r>
              <a:rPr sz="1500">
                <a:solidFill>
                  <a:srgbClr val="475569"/>
                </a:solidFill>
                <a:latin typeface="Carlito"/>
              </a:rPr>
              <a:t>Consulta el tipo real del objeto en memoria.</a:t>
            </a:r>
          </a:p>
          <a:p>
            <a:pPr algn="l" marL="219456" indent="-219456">
              <a:spcAft>
                <a:spcPts val="800"/>
              </a:spcAft>
              <a:buFont typeface="Carlito"/>
              <a:buChar char="•"/>
            </a:pPr>
            <a:r>
              <a:rPr sz="1700" b="1">
                <a:solidFill>
                  <a:srgbClr val="0F172A"/>
                </a:solidFill>
                <a:latin typeface="Carlito"/>
              </a:rPr>
              <a:t>Sintaxis base: </a:t>
            </a:r>
            <a:r>
              <a:rPr sz="1500">
                <a:solidFill>
                  <a:srgbClr val="475569"/>
                </a:solidFill>
                <a:latin typeface="Carlito"/>
              </a:rPr>
              <a:t>Declara 'virtual void hacerSonido() const'.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06908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2231136"/>
            <a:ext cx="2852928" cy="3630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B8292F"/>
                </a:solidFill>
                <a:latin typeface="Carlito"/>
              </a:rPr>
              <a:t>3. Destructor Virtual</a:t>
            </a:r>
          </a:p>
          <a:p>
            <a:pPr algn="l" marL="219456" indent="-219456">
              <a:spcAft>
                <a:spcPts val="800"/>
              </a:spcAft>
              <a:buFont typeface="Carlito"/>
              <a:buChar char="•"/>
            </a:pPr>
            <a:r>
              <a:rPr sz="1700" b="1">
                <a:solidFill>
                  <a:srgbClr val="0F172A"/>
                </a:solidFill>
                <a:latin typeface="Carlito"/>
              </a:rPr>
              <a:t>Regla esencial: </a:t>
            </a:r>
            <a:r>
              <a:rPr sz="1500">
                <a:solidFill>
                  <a:srgbClr val="475569"/>
                </a:solidFill>
                <a:latin typeface="Carlito"/>
              </a:rPr>
              <a:t>Toda base polimórfica usa 'virtual ~Animal()'.</a:t>
            </a:r>
          </a:p>
          <a:p>
            <a:pPr algn="l" marL="219456" indent="-219456">
              <a:spcAft>
                <a:spcPts val="800"/>
              </a:spcAft>
              <a:buFont typeface="Carlito"/>
              <a:buChar char="•"/>
            </a:pPr>
            <a:r>
              <a:rPr sz="1700" b="1">
                <a:solidFill>
                  <a:srgbClr val="0F172A"/>
                </a:solidFill>
                <a:latin typeface="Carlito"/>
              </a:rPr>
              <a:t>Limpieza segura: </a:t>
            </a:r>
            <a:r>
              <a:rPr sz="1500">
                <a:solidFill>
                  <a:srgbClr val="475569"/>
                </a:solidFill>
                <a:latin typeface="Carlito"/>
              </a:rPr>
              <a:t>Invoca el destructor derivado al borrar Animal*.</a:t>
            </a:r>
          </a:p>
          <a:p>
            <a:pPr algn="l" marL="219456" indent="-219456">
              <a:spcAft>
                <a:spcPts val="800"/>
              </a:spcAft>
              <a:buFont typeface="Carlito"/>
              <a:buChar char="•"/>
            </a:pPr>
            <a:r>
              <a:rPr sz="1700" b="1">
                <a:solidFill>
                  <a:srgbClr val="0F172A"/>
                </a:solidFill>
                <a:latin typeface="Carlito"/>
              </a:rPr>
              <a:t>Cero fugas: </a:t>
            </a:r>
            <a:r>
              <a:rPr sz="1500">
                <a:solidFill>
                  <a:srgbClr val="475569"/>
                </a:solidFill>
                <a:latin typeface="Carlito"/>
              </a:rPr>
              <a:t>Previene pérdida de memoria en colecciones.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Fuente: cppreference.com (virtual specifier) &amp; LearnCPP Cap. 25.2  |  Diapositiva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292F"/>
                </a:solidFill>
                <a:latin typeface="Carlito"/>
              </a:rPr>
              <a:t>PARTE 3 · INTEGRANTE 3 · COMPARATIVA TÉCNICA EN C++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Sobrescritura (override) vs. Sobrecarga de Métodos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Criterio Técnico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Sobrescritura (Method Overriding)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Carlito"/>
                        </a:rPr>
                        <a:t>Sobrecarga (Method Overloading)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B8292F"/>
                          </a:solidFill>
                          <a:latin typeface="Carlito"/>
                        </a:rPr>
                        <a:t>Ámbito de clases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Entre Clase Base (Animal) y Derivada (Perro/Gato)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Dentro de la misma clase sin requerir herencia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B8292F"/>
                          </a:solidFill>
                          <a:latin typeface="Carlito"/>
                        </a:rPr>
                        <a:t>Firma del método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Mismo nombre, mismos parámetros y mismo const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Mismo nombre con distintos parámetros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B8292F"/>
                          </a:solidFill>
                          <a:latin typeface="Carlito"/>
                        </a:rPr>
                        <a:t>Palabras clave C++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Usa virtual en base y override en derivada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No utiliza virtual ni override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B8292F"/>
                          </a:solidFill>
                          <a:latin typeface="Carlito"/>
                        </a:rPr>
                        <a:t>Momento de enlace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Tiempo de ejecución (enlace dinámico / vtable)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Tiempo de compilación (enlace estático)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B8292F"/>
                          </a:solidFill>
                          <a:latin typeface="Carlito"/>
                        </a:rPr>
                        <a:t>Ejemplo práctico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hacerSonido() en Animal, Perro, Gato y Vaca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0F172A"/>
                          </a:solidFill>
                          <a:latin typeface="Carlito"/>
                        </a:rPr>
                        <a:t>alimentar(comida) vs. alimentar(comida, gramos)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Fuente: cppreference.com (override specifier, C++11) &amp; Microsoft Learn  |  Diapositiva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292F"/>
                </a:solidFill>
                <a:latin typeface="Carlito"/>
              </a:rPr>
              <a:t>PARTE 4 · INTEGRANTE 4 (TU EXPOSICIÓN) · ESTRUCTURA DE CLASES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Jerarquía C++: hacerSonido() Virtual y override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669280" cy="406908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12848"/>
            <a:ext cx="5212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365D"/>
                </a:solidFill>
                <a:latin typeface="Carlito"/>
              </a:rPr>
              <a:t>Extracto de Grupo5_Herencia_Polimorfismo.cpp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0F172A"/>
                </a:solidFill>
                <a:latin typeface="DejaVu Sans Mono"/>
              </a:rPr>
              <a:t>class Animal {
protected: string nombre; int edad;
public:
  virtual ~Animal() {}
  virtual void hacerSonido() const;
};
class Perro : public Animal {
public:
  void hacerSonido() const override {
    cout &lt;&lt; "¡Guau, guau!\n";
  }
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01168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B8292F"/>
                </a:solidFill>
                <a:latin typeface="Carlito"/>
              </a:rPr>
              <a:t>Puntos Clave a Explicar en Vivo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Atributos protected: </a:t>
            </a:r>
            <a:r>
              <a:rPr sz="1550">
                <a:solidFill>
                  <a:srgbClr val="475569"/>
                </a:solidFill>
                <a:latin typeface="Carlito"/>
              </a:rPr>
              <a:t>Permiten que Perro, Gato y Vaca usen 'nombre' sin exponerlo.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Método virtual: </a:t>
            </a:r>
            <a:r>
              <a:rPr sz="1550">
                <a:solidFill>
                  <a:srgbClr val="475569"/>
                </a:solidFill>
                <a:latin typeface="Carlito"/>
              </a:rPr>
              <a:t>Habilita en Animal la resolución dinámica en tiempo de ejecución.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Verificador override: </a:t>
            </a:r>
            <a:r>
              <a:rPr sz="1550">
                <a:solidFill>
                  <a:srgbClr val="475569"/>
                </a:solidFill>
                <a:latin typeface="Carlito"/>
              </a:rPr>
              <a:t>Garantiza en compilación que la firma en Perro y Gato sea exacta.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Archivo ejecutable: Grupo5_Herencia_Polimorfismo.cpp (Estándar C++17)  |  Diapositiva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292F"/>
                </a:solidFill>
                <a:latin typeface="Carlito"/>
              </a:rPr>
              <a:t>PARTE 4 · INTEGRANTE 4 · EJECUCIÓN EN VIVO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Carlito"/>
              </a:rPr>
              <a:t>Un Vector Animal* Ejecuta Cada Sonido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B8292F"/>
                </a:solidFill>
                <a:latin typeface="Carlito"/>
              </a:rPr>
              <a:t>Recorrido Polimórfico en main()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Colección unificada: </a:t>
            </a:r>
            <a:r>
              <a:rPr sz="1550">
                <a:solidFill>
                  <a:srgbClr val="475569"/>
                </a:solidFill>
                <a:latin typeface="Carlito"/>
              </a:rPr>
              <a:t>vector&lt;Animal*&gt; refugio agrupa &amp;miPerro, &amp;miGato y &amp;miVaca.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Llamada polimórfica: </a:t>
            </a:r>
            <a:r>
              <a:rPr sz="1550">
                <a:solidFill>
                  <a:srgbClr val="475569"/>
                </a:solidFill>
                <a:latin typeface="Carlito"/>
              </a:rPr>
              <a:t>En el bucle for, ptr-&gt;hacerSonido() se enlaza en ejecución.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Salida en consola: </a:t>
            </a:r>
            <a:r>
              <a:rPr sz="1550">
                <a:solidFill>
                  <a:srgbClr val="475569"/>
                </a:solidFill>
                <a:latin typeface="Carlito"/>
              </a:rPr>
              <a:t>Max imprime '¡Guau!', Luna '¡Miau!' y Lola '¡Muuu!'.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Contraste práctico: </a:t>
            </a:r>
            <a:r>
              <a:rPr sz="1550">
                <a:solidFill>
                  <a:srgbClr val="475569"/>
                </a:solidFill>
                <a:latin typeface="Carlito"/>
              </a:rPr>
              <a:t>alimentar() muestra sobrecarga; hacerSonido() muestra override.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Compilación: g++ -std=c++17 Grupo5.cpp  |  Diapositiva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292F"/>
                </a:solidFill>
                <a:latin typeface="Carlito"/>
              </a:rPr>
              <a:t>CIERRE GRUPAL · CONCLUSIONES Y FUENTES CONSULTADAS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El Polimorfismo Reduce Código Duplicado y Escala en Software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3035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B8292F"/>
                </a:solidFill>
                <a:latin typeface="Carlito"/>
              </a:rPr>
              <a:t>Conclusiones y Bibliografía Verificada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Aprendizaje clave: </a:t>
            </a:r>
            <a:r>
              <a:rPr sz="1550">
                <a:solidFill>
                  <a:srgbClr val="475569"/>
                </a:solidFill>
                <a:latin typeface="Carlito"/>
              </a:rPr>
              <a:t>Combinar virtual en la base y override en subclases asegura polimorfismo.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Aplicaciones reales: </a:t>
            </a:r>
            <a:r>
              <a:rPr sz="1550">
                <a:solidFill>
                  <a:srgbClr val="475569"/>
                </a:solidFill>
                <a:latin typeface="Carlito"/>
              </a:rPr>
              <a:t>Videojuegos (actualizar()), pagos bancarios y drivers de hardware.</a:t>
            </a:r>
          </a:p>
          <a:p>
            <a:pPr algn="l" marL="219456" indent="-219456">
              <a:spcAft>
                <a:spcPts val="900"/>
              </a:spcAft>
              <a:buFont typeface="Carlito"/>
              <a:buChar char="•"/>
            </a:pPr>
            <a:r>
              <a:rPr sz="1750" b="1">
                <a:solidFill>
                  <a:srgbClr val="0F172A"/>
                </a:solidFill>
                <a:latin typeface="Carlito"/>
              </a:rPr>
              <a:t>Fuentes oficiales: </a:t>
            </a:r>
            <a:r>
              <a:rPr sz="1550">
                <a:solidFill>
                  <a:srgbClr val="475569"/>
                </a:solidFill>
                <a:latin typeface="Carlito"/>
              </a:rPr>
              <a:t>cppreference.com (virtual/override), Microsoft Learn C++ y LearnCPP.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2103120"/>
          <a:ext cx="51206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Fuentes: en.cppreference.com/cpp/language/virtual · learn.microsoft.com · learncpp.com  |  Diapositiva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F8FAFC"/>
                </a:solidFill>
                <a:latin typeface="Carlito"/>
              </a:rPr>
              <a:t>Un mismo mensaje, múltiples comportamientos en C++.</a:t>
            </a:r>
          </a:p>
          <a:p>
            <a:r>
              <a:rPr sz="2000">
                <a:solidFill>
                  <a:srgbClr val="93C5FD"/>
                </a:solidFill>
                <a:latin typeface="Carlito"/>
              </a:rPr>
              <a:t>¡Gracias por su atención! · Pasamos a la ejecución en vivo y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Carlito"/>
              </a:rPr>
              <a:t>Grupo 5 · Ingeniería en Sistemas de Información · UMG  |  Diapositiva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